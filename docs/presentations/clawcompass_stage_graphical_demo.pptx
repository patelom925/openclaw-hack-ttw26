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ClawCompass is a capability broker for agents. In two minutes I will show it recommending a real setup capability, requiring payment before execution, and blocking high-risk on-chain actions until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short. The judge needs to understand the pain: agents need to buy capabilities safely and prove what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product architecture without going into services. Each node maps to an existing route or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presenter clock. If something stalls, skip buyer/seller and go straight to guardrail plus proof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judge oriented by narrating the visual sequence: ask, pay, execute. Avoid reading every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risky prompt live. The important proof is that ClawCompass explains why it is blocked and asks for confirmation before chain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honest: local mode is only deterministic rehearsal. Final proof requires real x402 credentials and settlement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live time is short, this slide can substitute for the /buy and /sell click-through. If time remains, open those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apologize for blockers. Explain this is intentional safety: no secrets, no chain transaction, no funds, no external send without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open as a backup or printout. It is the demo control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sentence: ClawCompass turns agent capability selection into a paid, safe, and provable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58521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Aptos"/>
              </a:rPr>
              <a:t>ClawCompass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61264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7DD3FC"/>
                </a:solidFill>
                <a:latin typeface="Aptos"/>
              </a:rPr>
              <a:t>Capability brokerage for autonomous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65960"/>
            <a:ext cx="60350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A judge-stage demo: ask -&gt; recommend -&gt; pay -&gt; execute -&gt; prove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2011680"/>
            <a:ext cx="2286000" cy="2286000"/>
          </a:xfrm>
          <a:prstGeom prst="ellipse">
            <a:avLst/>
          </a:prstGeom>
          <a:solidFill>
            <a:srgbClr val="101827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3" y="2990088"/>
            <a:ext cx="1188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2C94C"/>
                </a:solidFill>
                <a:latin typeface="Aptos"/>
              </a:rPr>
              <a:t>Broker</a:t>
            </a:r>
          </a:p>
        </p:txBody>
      </p:sp>
      <p:sp>
        <p:nvSpPr>
          <p:cNvPr id="9" name="Oval 8"/>
          <p:cNvSpPr/>
          <p:nvPr/>
        </p:nvSpPr>
        <p:spPr>
          <a:xfrm>
            <a:off x="6309359" y="1554480"/>
            <a:ext cx="1143000" cy="1143000"/>
          </a:xfrm>
          <a:prstGeom prst="ellipse">
            <a:avLst/>
          </a:prstGeom>
          <a:solidFill>
            <a:srgbClr val="162033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947672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Agent task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76288" y="2121408"/>
            <a:ext cx="1901952" cy="1033272"/>
          </a:xfrm>
          <a:prstGeom prst="line">
            <a:avLst/>
          </a:prstGeom>
          <a:ln w="1651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201400" y="1828800"/>
            <a:ext cx="1143000" cy="1143000"/>
          </a:xfrm>
          <a:prstGeom prst="ellipse">
            <a:avLst/>
          </a:prstGeom>
          <a:solidFill>
            <a:srgbClr val="162033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20272" y="2221992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Safe context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778240" y="2395728"/>
            <a:ext cx="2990088" cy="758952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46520" y="4389120"/>
            <a:ext cx="1143000" cy="1143000"/>
          </a:xfrm>
          <a:prstGeom prst="ellipse">
            <a:avLst/>
          </a:prstGeom>
          <a:solidFill>
            <a:srgbClr val="162033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x402 paid tool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013448" y="3154680"/>
            <a:ext cx="1764792" cy="1801368"/>
          </a:xfrm>
          <a:prstGeom prst="line">
            <a:avLst/>
          </a:prstGeom>
          <a:ln w="1651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018520" y="4572000"/>
            <a:ext cx="1143000" cy="1143000"/>
          </a:xfrm>
          <a:prstGeom prst="ellipse">
            <a:avLst/>
          </a:prstGeom>
          <a:solidFill>
            <a:srgbClr val="162033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37392" y="4965192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ERC-8004 proof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8778240" y="3154680"/>
            <a:ext cx="2807208" cy="1984248"/>
          </a:xfrm>
          <a:prstGeom prst="line">
            <a:avLst/>
          </a:prstGeom>
          <a:ln w="16510">
            <a:solidFill>
              <a:srgbClr val="FF5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5715000"/>
            <a:ext cx="1965960" cy="384048"/>
          </a:xfrm>
          <a:prstGeom prst="round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811012"/>
            <a:ext cx="174650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20617"/>
                </a:solidFill>
                <a:latin typeface="Aptos"/>
              </a:rPr>
              <a:t>2-minute stage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715000"/>
            <a:ext cx="1691640" cy="384048"/>
          </a:xfrm>
          <a:prstGeom prst="roundRect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8" y="5811012"/>
            <a:ext cx="147218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20617"/>
                </a:solidFill>
                <a:latin typeface="Aptos"/>
              </a:rPr>
              <a:t>Local demo 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715000"/>
            <a:ext cx="201168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5811012"/>
            <a:ext cx="179222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5C7A"/>
                </a:solidFill>
                <a:latin typeface="Aptos"/>
              </a:rPr>
              <a:t>External proof gated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Agents need a buying layer, not another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The demo starts from a concrete builder problem: ClawUp, Telegram, ERC-8004, and x402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212080" cy="292608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73152" cy="2926080"/>
          </a:xfrm>
          <a:prstGeom prst="rect">
            <a:avLst/>
          </a:prstGeom>
          <a:solidFill>
            <a:srgbClr val="FF5C7A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4754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75488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An agent sees too many tools, raw context, unclear prices, no shared proof, and risky actions mixed with safe 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48840"/>
            <a:ext cx="5212080" cy="292608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48840"/>
            <a:ext cx="73152" cy="2926080"/>
          </a:xfrm>
          <a:prstGeom prst="rect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50008"/>
            <a:ext cx="4754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After ClawCompass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07208"/>
            <a:ext cx="475488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The agent gets a ranked capability, redacted context preview, payment quote, execution result, and reputation/proof trail.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80" y="3611880"/>
            <a:ext cx="393192" cy="0"/>
          </a:xfrm>
          <a:prstGeom prst="line">
            <a:avLst/>
          </a:prstGeom>
          <a:ln w="3810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70832" y="5394960"/>
            <a:ext cx="3520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2C94C"/>
                </a:solidFill>
                <a:latin typeface="Aptos"/>
              </a:rPr>
              <a:t>Decision -&gt; Payment -&gt;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CORE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The broker path judges will see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This is the whole product behavior compressed into one visual.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331720"/>
            <a:ext cx="1298448" cy="91440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78024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task + budget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2788920"/>
            <a:ext cx="301752" cy="0"/>
          </a:xfrm>
          <a:prstGeom prst="line">
            <a:avLst/>
          </a:prstGeom>
          <a:ln w="1905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49424" y="2331720"/>
            <a:ext cx="1298448" cy="91440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2478024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77063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classify need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47872" y="2788920"/>
            <a:ext cx="301752" cy="0"/>
          </a:xfrm>
          <a:prstGeom prst="line">
            <a:avLst/>
          </a:prstGeom>
          <a:ln w="1905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77056" y="2331720"/>
            <a:ext cx="1298448" cy="91440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2478024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Redact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277063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safe context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75504" y="2788920"/>
            <a:ext cx="301752" cy="0"/>
          </a:xfrm>
          <a:prstGeom prst="line">
            <a:avLst/>
          </a:prstGeom>
          <a:ln w="1905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04688" y="2331720"/>
            <a:ext cx="1298448" cy="91440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4416" y="2478024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77063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best tools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03136" y="2788920"/>
            <a:ext cx="301752" cy="0"/>
          </a:xfrm>
          <a:prstGeom prst="line">
            <a:avLst/>
          </a:prstGeom>
          <a:ln w="1905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32320" y="2331720"/>
            <a:ext cx="1298448" cy="91440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2478024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Quote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77063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x402 price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30767" y="2788920"/>
            <a:ext cx="301753" cy="0"/>
          </a:xfrm>
          <a:prstGeom prst="line">
            <a:avLst/>
          </a:prstGeom>
          <a:ln w="1905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59952" y="2331720"/>
            <a:ext cx="1298448" cy="91440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478024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77063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after payment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0" y="2788920"/>
            <a:ext cx="301752" cy="0"/>
          </a:xfrm>
          <a:prstGeom prst="line">
            <a:avLst/>
          </a:prstGeom>
          <a:ln w="1905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387584" y="2331720"/>
            <a:ext cx="1298448" cy="91440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97311" y="2478024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Repute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7311" y="277063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outcome 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4160520"/>
            <a:ext cx="10149840" cy="1005840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61872" y="4471416"/>
            <a:ext cx="9601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Stage claim: a paid result never appears before settlement, and a risky action never runs before confirmation.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RUN OF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The stage demo is timed and reversible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Use these beats while the live app is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337560" cy="1417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20824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Aptos"/>
              </a:rPr>
              <a:t>0:00-0:15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Name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79191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Builder onboarding is fragmented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337560" cy="1417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020824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Aptos"/>
              </a:rPr>
              <a:t>0:15-0:35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1343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Self-disclose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79191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What do you do?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74519"/>
            <a:ext cx="3337560" cy="1417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2020824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Aptos"/>
              </a:rPr>
              <a:t>0:35-1:20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31343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Core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679191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SetupPilot recommendation + 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40479"/>
            <a:ext cx="3337560" cy="1417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986783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Aptos"/>
              </a:rPr>
              <a:t>1:20-1:40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27939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645151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Private key / mainnet halt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840479"/>
            <a:ext cx="3337560" cy="1417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986783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Aptos"/>
              </a:rPr>
              <a:t>1:40-1:55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27939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Commerce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645151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Buyer and seller surfaces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840479"/>
            <a:ext cx="3337560" cy="1417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3986783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C94C"/>
                </a:solidFill>
                <a:latin typeface="Aptos"/>
              </a:rPr>
              <a:t>1:55-2:00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427939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645151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ClawUp / x402 / ERC-8004 gates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WHAT THE JUDGE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Three screen moments, no long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The live app should visually match this progression.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29000" cy="32461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342900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75104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95728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Onboarding task entered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2834640"/>
            <a:ext cx="2880360" cy="731520"/>
          </a:xfrm>
          <a:prstGeom prst="roundRect">
            <a:avLst/>
          </a:prstGeom>
          <a:solidFill>
            <a:srgbClr val="0B1F2A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054096"/>
            <a:ext cx="2560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ClawUp setup is stuck...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3886200"/>
            <a:ext cx="2514600" cy="384048"/>
          </a:xfrm>
          <a:prstGeom prst="roundRect">
            <a:avLst/>
          </a:prstGeom>
          <a:solidFill>
            <a:srgbClr val="7DD3FC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5" y="3982212"/>
            <a:ext cx="229514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20617"/>
                </a:solidFill>
                <a:latin typeface="Aptos"/>
              </a:rPr>
              <a:t>SetupPilot top pick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3456432"/>
            <a:ext cx="347472" cy="0"/>
          </a:xfrm>
          <a:prstGeom prst="line">
            <a:avLst/>
          </a:prstGeom>
          <a:ln w="2540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44568" y="1874519"/>
            <a:ext cx="3429000" cy="32461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44568" y="1874519"/>
            <a:ext cx="342900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1975104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395728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0.10 USDC quote shown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8616" y="2788920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2C94C"/>
                </a:solidFill>
                <a:latin typeface="Aptos"/>
              </a:rPr>
              <a:t>payment_required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7488" y="3337560"/>
            <a:ext cx="2423160" cy="438912"/>
          </a:xfrm>
          <a:prstGeom prst="roundRect">
            <a:avLst/>
          </a:prstGeom>
          <a:solidFill>
            <a:srgbClr val="0B1F2A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3465576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x402 quote: 0.10 USDC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069080"/>
            <a:ext cx="2423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No paid result is delivered yet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73567" y="3456432"/>
            <a:ext cx="347473" cy="0"/>
          </a:xfrm>
          <a:prstGeom prst="line">
            <a:avLst/>
          </a:prstGeom>
          <a:ln w="25400">
            <a:solidFill>
              <a:srgbClr val="31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430768" y="1874519"/>
            <a:ext cx="3429000" cy="32461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30768" y="1874519"/>
            <a:ext cx="342900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1975104"/>
            <a:ext cx="1188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395728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Setup checklist returned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2743200"/>
            <a:ext cx="2743200" cy="384048"/>
          </a:xfrm>
          <a:prstGeom prst="roundRect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2839212"/>
            <a:ext cx="252374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20617"/>
                </a:solidFill>
                <a:latin typeface="Aptos"/>
              </a:rPr>
              <a:t>Diagnosis: telegram_pairing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41664" y="3401568"/>
            <a:ext cx="2816352" cy="100584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41664" y="3401568"/>
            <a:ext cx="73152" cy="1005840"/>
          </a:xfrm>
          <a:prstGeom prst="rect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0264" y="3602736"/>
            <a:ext cx="235915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Next safe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4059936"/>
            <a:ext cx="235915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Verify bot pairing, then capture public proof.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SAFETY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High-risk actions stop at an approval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This is the human-in-the-loop scoring moment.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3657600" cy="2560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5C7A"/>
                </a:solidFill>
                <a:latin typeface="Aptos"/>
              </a:rPr>
              <a:t>Risky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16352"/>
            <a:ext cx="31089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"Register on mainnet now using this private key."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30632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Contains wallet + on-chain action + private-key 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3310128"/>
            <a:ext cx="1005840" cy="0"/>
          </a:xfrm>
          <a:prstGeom prst="line">
            <a:avLst/>
          </a:prstGeom>
          <a:ln w="38100">
            <a:solidFill>
              <a:srgbClr val="FF5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ctagon 11"/>
          <p:cNvSpPr/>
          <p:nvPr/>
        </p:nvSpPr>
        <p:spPr>
          <a:xfrm>
            <a:off x="5577840" y="2304288"/>
            <a:ext cx="1783080" cy="1783080"/>
          </a:xfrm>
          <a:prstGeom prst="octagon">
            <a:avLst/>
          </a:prstGeom>
          <a:solidFill>
            <a:srgbClr val="FF5C7A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2962656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020617"/>
                </a:solidFill>
                <a:latin typeface="Aptos"/>
              </a:rPr>
              <a:t>HALT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60920" y="3310128"/>
            <a:ext cx="1005840" cy="0"/>
          </a:xfrm>
          <a:prstGeom prst="line">
            <a:avLst/>
          </a:prstGeom>
          <a:ln w="3810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30768" y="2011680"/>
            <a:ext cx="2971800" cy="256032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233172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9D98A"/>
                </a:solidFill>
                <a:latin typeface="Aptos"/>
              </a:rPr>
              <a:t>Allowed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880360"/>
            <a:ext cx="2423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Requires APPROVE_ONCHAIN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3429000"/>
            <a:ext cx="23317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Explains risk, offers cancel path, and does not submit a transaction.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X402 PROOF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Payment state is visible and binding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The live final replaces local mock settlement with real merchant evidence.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331720"/>
            <a:ext cx="1645920" cy="1645920"/>
          </a:xfrm>
          <a:prstGeom prst="ellipse">
            <a:avLst/>
          </a:prstGeom>
          <a:solidFill>
            <a:srgbClr val="101827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2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090672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capability + amount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154680"/>
            <a:ext cx="1115567" cy="0"/>
          </a:xfrm>
          <a:prstGeom prst="line">
            <a:avLst/>
          </a:prstGeom>
          <a:ln w="2794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03320" y="2331720"/>
            <a:ext cx="1645920" cy="1645920"/>
          </a:xfrm>
          <a:prstGeom prst="ellipse">
            <a:avLst/>
          </a:prstGeom>
          <a:solidFill>
            <a:srgbClr val="101827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278892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402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3090672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quote issued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49240" y="3154680"/>
            <a:ext cx="1115568" cy="0"/>
          </a:xfrm>
          <a:prstGeom prst="line">
            <a:avLst/>
          </a:prstGeom>
          <a:ln w="2794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92240" y="2331720"/>
            <a:ext cx="1645920" cy="1645920"/>
          </a:xfrm>
          <a:prstGeom prst="ellipse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278892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Settled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3090672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proof bound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3154680"/>
            <a:ext cx="1115568" cy="0"/>
          </a:xfrm>
          <a:prstGeom prst="line">
            <a:avLst/>
          </a:prstGeom>
          <a:ln w="2794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281159" y="2331720"/>
            <a:ext cx="1645920" cy="1645920"/>
          </a:xfrm>
          <a:prstGeom prst="ellipse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1" y="278892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Delivered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3090672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result returned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28032"/>
            <a:ext cx="10241280" cy="713232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029200"/>
            <a:ext cx="9738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Judge proof: before settlement, execution returns payment required; after settlement, the result and reputation event appear.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COMMERCE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ClawCompass buys and sells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This proves it is more than a single helper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4983480" cy="315468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DD3FC"/>
                </a:solidFill>
                <a:latin typeface="Aptos"/>
              </a:rPr>
              <a:t>Buyer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52928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Submits task, context, budget, max risk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3456432"/>
            <a:ext cx="3977640" cy="0"/>
          </a:xfrm>
          <a:prstGeom prst="line">
            <a:avLst/>
          </a:prstGeom>
          <a:ln w="3048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48840" y="3154680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2C94C"/>
                </a:solidFill>
                <a:latin typeface="Aptos"/>
              </a:rPr>
              <a:t>payment-bound 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160520"/>
            <a:ext cx="1005840" cy="384048"/>
          </a:xfrm>
          <a:prstGeom prst="roundRect">
            <a:avLst/>
          </a:prstGeom>
          <a:solidFill>
            <a:srgbClr val="7DD3FC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4256532"/>
            <a:ext cx="78638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20617"/>
                </a:solidFill>
                <a:latin typeface="Aptos"/>
              </a:rPr>
              <a:t>/buy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4160520"/>
            <a:ext cx="132588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4256532"/>
            <a:ext cx="110642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7DD3FC"/>
                </a:solidFill>
                <a:latin typeface="Aptos"/>
              </a:rPr>
              <a:t>risk &lt;= cap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4160520"/>
            <a:ext cx="150876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4256532"/>
            <a:ext cx="128930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2C94C"/>
                </a:solidFill>
                <a:latin typeface="Aptos"/>
              </a:rPr>
              <a:t>budget &lt;= 0.10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965960"/>
            <a:ext cx="4983480" cy="315468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304288"/>
            <a:ext cx="2194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9D98A"/>
                </a:solidFill>
                <a:latin typeface="Aptos"/>
              </a:rPr>
              <a:t>Seller 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852928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Submits capability for review, not automatic listing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3456432"/>
            <a:ext cx="3977640" cy="0"/>
          </a:xfrm>
          <a:prstGeom prst="line">
            <a:avLst/>
          </a:prstGeom>
          <a:ln w="3048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83879" y="3154680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Aptos"/>
              </a:rPr>
              <a:t>pending_review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160520"/>
            <a:ext cx="1005840" cy="384048"/>
          </a:xfrm>
          <a:prstGeom prst="roundRect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256532"/>
            <a:ext cx="78638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20617"/>
                </a:solidFill>
                <a:latin typeface="Aptos"/>
              </a:rPr>
              <a:t>/sell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4160520"/>
            <a:ext cx="146304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4256532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9D98A"/>
                </a:solidFill>
                <a:latin typeface="Aptos"/>
              </a:rPr>
              <a:t>manual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160520"/>
            <a:ext cx="1508760" cy="38404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4256532"/>
            <a:ext cx="128930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9D98A"/>
                </a:solidFill>
                <a:latin typeface="Aptos"/>
              </a:rPr>
              <a:t>provider intake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PROOF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Show what is live, what is blocked,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This prevents judges from confusing local demo state with final public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55648"/>
            <a:ext cx="10241280" cy="43891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2" y="1856231"/>
            <a:ext cx="228600" cy="228600"/>
          </a:xfrm>
          <a:prstGeom prst="ellipse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Local API +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74519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39D98A"/>
                </a:solidFill>
                <a:latin typeface="Aptos"/>
              </a:rPr>
              <a:t>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77440"/>
            <a:ext cx="10241280" cy="43891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0432" y="2478024"/>
            <a:ext cx="228600" cy="228600"/>
          </a:xfrm>
          <a:prstGeom prst="ellipse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496312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SetupPilot paid demo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496312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39D98A"/>
                </a:solidFill>
                <a:latin typeface="Aptos"/>
              </a:rPr>
              <a:t>Ready locally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99232"/>
            <a:ext cx="10241280" cy="43891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0432" y="3099816"/>
            <a:ext cx="228600" cy="228600"/>
          </a:xfrm>
          <a:prstGeom prst="ellipse">
            <a:avLst/>
          </a:prstGeom>
          <a:solidFill>
            <a:srgbClr val="FF5C7A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118104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ClawUp agent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18104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F5C7A"/>
                </a:solidFill>
                <a:latin typeface="Aptos"/>
              </a:rPr>
              <a:t>Blocked: verify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21024"/>
            <a:ext cx="10241280" cy="43891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0432" y="3721608"/>
            <a:ext cx="228600" cy="228600"/>
          </a:xfrm>
          <a:prstGeom prst="ellipse">
            <a:avLst/>
          </a:prstGeom>
          <a:solidFill>
            <a:srgbClr val="FF5C7A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739896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Telegram pairing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739896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F5C7A"/>
                </a:solidFill>
                <a:latin typeface="Aptos"/>
              </a:rPr>
              <a:t>Blocked: rotate/verify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42816"/>
            <a:ext cx="10241280" cy="43891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70432" y="4343400"/>
            <a:ext cx="228600" cy="228600"/>
          </a:xfrm>
          <a:prstGeom prst="ellipse">
            <a:avLst/>
          </a:prstGeom>
          <a:solidFill>
            <a:srgbClr val="FF5C7A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361688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Real x402 settlement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61688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F5C7A"/>
                </a:solidFill>
                <a:latin typeface="Aptos"/>
              </a:rPr>
              <a:t>Blocked: credentials/funds/approval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64608"/>
            <a:ext cx="10241280" cy="43891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" y="4965192"/>
            <a:ext cx="228600" cy="228600"/>
          </a:xfrm>
          <a:prstGeom prst="ellipse">
            <a:avLst/>
          </a:prstGeom>
          <a:solidFill>
            <a:srgbClr val="FF5C7A"/>
          </a:solidFill>
          <a:ln w="15240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983480"/>
            <a:ext cx="4389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ERC-8004 + 8004scan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983480"/>
            <a:ext cx="3291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F5C7A"/>
                </a:solidFill>
                <a:latin typeface="Aptos"/>
              </a:rPr>
              <a:t>Blocked: wallet/gas/on-chain approval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715000"/>
            <a:ext cx="10241280" cy="475488"/>
          </a:xfrm>
          <a:prstGeom prst="roundRect">
            <a:avLst/>
          </a:prstGeom>
          <a:solidFill>
            <a:srgbClr val="0B1F2A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5843016"/>
            <a:ext cx="9692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2C94C"/>
                </a:solidFill>
                <a:latin typeface="Aptos"/>
              </a:rPr>
              <a:t>Stage wording: the local product is ready; the public proof steps require external credentials, funds, and explicit approval.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PRESENTER CLICK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One slide to keep beside the live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Use this if the room timing gets tight.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27632"/>
            <a:ext cx="4892040" cy="71323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1783080"/>
            <a:ext cx="411480" cy="411480"/>
          </a:xfrm>
          <a:prstGeom prst="ellipse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1865376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783080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Apto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783080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Ask onboarding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27632"/>
            <a:ext cx="4892040" cy="71323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65392" y="1783080"/>
            <a:ext cx="411480" cy="411480"/>
          </a:xfrm>
          <a:prstGeom prst="ellipse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1865376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783080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Aptos"/>
              </a:rPr>
              <a:t>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Use SetupPilot; show x402 quote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697480"/>
            <a:ext cx="4892040" cy="71323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1" y="2852928"/>
            <a:ext cx="411480" cy="411480"/>
          </a:xfrm>
          <a:prstGeom prst="ellipse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2935224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85292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Aptos"/>
              </a:rPr>
              <a:t>/transactions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852928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Show payment status and local settlement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97480"/>
            <a:ext cx="4892040" cy="71323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65392" y="2852928"/>
            <a:ext cx="411480" cy="411480"/>
          </a:xfrm>
          <a:prstGeom prst="ellipse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2935224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852928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Aptos"/>
              </a:rPr>
              <a:t>/security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52928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Run private-key/mainnet guardrail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767328"/>
            <a:ext cx="4892040" cy="71323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1" y="3922776"/>
            <a:ext cx="411480" cy="411480"/>
          </a:xfrm>
          <a:prstGeom prst="ellipse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2144" y="4005072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3922776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Aptos"/>
              </a:rPr>
              <a:t>/buy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3922776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Create buyer intent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767328"/>
            <a:ext cx="4892040" cy="71323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65392" y="3922776"/>
            <a:ext cx="411480" cy="411480"/>
          </a:xfrm>
          <a:prstGeom prst="ellipse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84264" y="4005072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3922776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Aptos"/>
              </a:rPr>
              <a:t>/sell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922776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Submit provider -&gt; pending_review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837176"/>
            <a:ext cx="4892040" cy="713232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3271" y="4992624"/>
            <a:ext cx="411480" cy="411480"/>
          </a:xfrm>
          <a:prstGeom prst="ellipse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2144" y="5074920"/>
            <a:ext cx="1828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20617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18488" y="4992624"/>
            <a:ext cx="12344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Aptos"/>
              </a:rPr>
              <a:t>/proof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4992624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Show external proof blockers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524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2C94C"/>
                </a:solidFill>
                <a:latin typeface="Apto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77724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What ClawCompass becomes after the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77724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The local broker becomes a live capability economy when the external proof steps are finished.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20240"/>
            <a:ext cx="3337560" cy="237744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20240"/>
            <a:ext cx="73152" cy="2377440"/>
          </a:xfrm>
          <a:prstGeom prst="rect">
            <a:avLst/>
          </a:prstGeom>
          <a:solidFill>
            <a:srgbClr val="7DD3FC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121408"/>
            <a:ext cx="28803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Immediate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78608"/>
            <a:ext cx="288036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Pair ClawUp + Telegram and map command routes to the local API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337560" cy="237744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20240"/>
            <a:ext cx="73152" cy="2377440"/>
          </a:xfrm>
          <a:prstGeom prst="rect">
            <a:avLst/>
          </a:prstGeom>
          <a:solidFill>
            <a:srgbClr val="F2C94C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28803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78608"/>
            <a:ext cx="288036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Swap mock settlement for real x402 settlement and capture transaction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20240"/>
            <a:ext cx="3337560" cy="2377440"/>
          </a:xfrm>
          <a:prstGeom prst="roundRect">
            <a:avLst/>
          </a:prstGeom>
          <a:solidFill>
            <a:srgbClr val="101827"/>
          </a:solidFill>
          <a:ln w="15240">
            <a:solidFill>
              <a:srgbClr val="31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920240"/>
            <a:ext cx="73152" cy="2377440"/>
          </a:xfrm>
          <a:prstGeom prst="rect">
            <a:avLst/>
          </a:prstGeom>
          <a:solidFill>
            <a:srgbClr val="39D98A"/>
          </a:solidFill>
          <a:ln w="1524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121408"/>
            <a:ext cx="28803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578608"/>
            <a:ext cx="288036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Register ERC-8004 identity and write reputation through approved on-chain 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074920"/>
            <a:ext cx="10012680" cy="65836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266944"/>
            <a:ext cx="93726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ClawCompass is the payment, routing, and trust layer for agents buying capabilities from other agents.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5669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ClawCompass / GOAT OpenClaw stage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