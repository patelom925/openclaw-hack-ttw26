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ClawCompass helps agents safely buy and use the right capability, with payment and proof built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 through the hackathon setup: ClawUp, Telegram, ERC-8004, x402, wallet, and proof all need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product map before the live demo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one sentence per tool. Keep it crisp: ClawUp channel, Telegram UX, x402 payment, GOAT/ERC identity, SetupPilot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transition slide before switching into the live app. It tells judges what evidence they are about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self-disclosure prompt. Judges should see what the agent does and what it will not do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the onboarding prompt and show SetupPilot as the top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unpaid execution returns payment required. If local demo settlement is used, name it as local demo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returned checklist and transaction/reputation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risky prompt. The score comes from the agent stopping and asking for explicit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for the 35% Market Potential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 about pending external proof. Do not claim on-chain or settlement proof until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category to the corresponding live moment: Market, UX, x402, and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distinguish live local evidence from external public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with: ClawCompass is the payment, routing, and trust layer for agents buying capabilities from other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41248"/>
            <a:ext cx="5852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8FAFC"/>
                </a:solidFill>
                <a:latin typeface="Aptos Display"/>
              </a:rPr>
              <a:t>ClawCompass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719072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EEAD4"/>
                </a:solidFill>
                <a:latin typeface="Aptos"/>
              </a:rPr>
              <a:t>Agent capability brokerage with payment, safety, and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4942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AC6D8"/>
                </a:solidFill>
                <a:latin typeface="Aptos"/>
              </a:rPr>
              <a:t>Ask -&gt; recommend -&gt; pay -&gt; execute -&gt; prove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80360"/>
            <a:ext cx="466344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967228"/>
            <a:ext cx="448055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Team: Abhinav Singh | Omkumar | Awais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64992"/>
            <a:ext cx="2971800" cy="347472"/>
          </a:xfrm>
          <a:prstGeom prst="round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51860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020617"/>
                </a:solidFill>
                <a:latin typeface="Aptos"/>
              </a:rPr>
              <a:t>GOAT/OpenClaw Hackathon 2026</a:t>
            </a:r>
          </a:p>
        </p:txBody>
      </p:sp>
      <p:sp>
        <p:nvSpPr>
          <p:cNvPr id="14" name="Oval 13"/>
          <p:cNvSpPr/>
          <p:nvPr/>
        </p:nvSpPr>
        <p:spPr>
          <a:xfrm>
            <a:off x="7955279" y="2212848"/>
            <a:ext cx="2029968" cy="2029968"/>
          </a:xfrm>
          <a:prstGeom prst="ellipse">
            <a:avLst/>
          </a:prstGeom>
          <a:solidFill>
            <a:srgbClr val="121E31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90779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6C453"/>
                </a:solidFill>
                <a:latin typeface="Aptos"/>
              </a:rPr>
              <a:t>BROKER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1298448"/>
            <a:ext cx="932688" cy="932688"/>
          </a:xfrm>
          <a:prstGeom prst="ellipse">
            <a:avLst/>
          </a:prstGeom>
          <a:solidFill>
            <a:srgbClr val="18263B"/>
          </a:solidFill>
          <a:ln w="14604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1655064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0296" y="1764792"/>
            <a:ext cx="2020824" cy="1481328"/>
          </a:xfrm>
          <a:prstGeom prst="line">
            <a:avLst/>
          </a:prstGeom>
          <a:ln w="1905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195560" y="1426464"/>
            <a:ext cx="932688" cy="932688"/>
          </a:xfrm>
          <a:prstGeom prst="ellipse">
            <a:avLst/>
          </a:prstGeom>
          <a:solidFill>
            <a:srgbClr val="18263B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68712" y="1783080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X402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961120" y="1892808"/>
            <a:ext cx="1700784" cy="1353312"/>
          </a:xfrm>
          <a:prstGeom prst="line">
            <a:avLst/>
          </a:prstGeom>
          <a:ln w="19050">
            <a:solidFill>
              <a:srgbClr val="F6C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0" y="4590288"/>
            <a:ext cx="932688" cy="932688"/>
          </a:xfrm>
          <a:prstGeom prst="ellipse">
            <a:avLst/>
          </a:prstGeom>
          <a:solidFill>
            <a:srgbClr val="18263B"/>
          </a:solidFill>
          <a:ln w="14604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946903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SAFE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58583" y="3246120"/>
            <a:ext cx="2002537" cy="1810511"/>
          </a:xfrm>
          <a:prstGeom prst="line">
            <a:avLst/>
          </a:prstGeom>
          <a:ln w="19050">
            <a:solidFill>
              <a:srgbClr val="FF6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085832" y="4590288"/>
            <a:ext cx="932688" cy="932688"/>
          </a:xfrm>
          <a:prstGeom prst="ellipse">
            <a:avLst/>
          </a:prstGeom>
          <a:solidFill>
            <a:srgbClr val="18263B"/>
          </a:solidFill>
          <a:ln w="14604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8984" y="4946903"/>
            <a:ext cx="786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PROOF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8961120" y="3246120"/>
            <a:ext cx="1591056" cy="1810511"/>
          </a:xfrm>
          <a:prstGeom prst="line">
            <a:avLst/>
          </a:prstGeom>
          <a:ln w="19050">
            <a:solidFill>
              <a:srgbClr val="38D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PROBLEM WE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Agents can talk. They still cannot safely buy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Tool selection, context safety, payment, execution, and proof are currently separate chores.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48840"/>
            <a:ext cx="4983480" cy="2560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148840"/>
            <a:ext cx="68580" cy="256032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3317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Manual tool maze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70632"/>
            <a:ext cx="4526280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The builder has to pick a tool, decide what context is safe, understand cost, pay, run it, and prove it worked.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48840"/>
            <a:ext cx="4983480" cy="25603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148840"/>
            <a:ext cx="68580" cy="256032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5976" y="233172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Brokered capability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2770632"/>
            <a:ext cx="4526280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ClawCompass turns one request into recommendation, redaction, payment gate, execution, and outcome logging.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6440" y="3429000"/>
            <a:ext cx="548640" cy="0"/>
          </a:xfrm>
          <a:prstGeom prst="line">
            <a:avLst/>
          </a:prstGeom>
          <a:ln w="38100">
            <a:solidFill>
              <a:srgbClr val="F6C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87168" y="5349240"/>
            <a:ext cx="7178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6C453"/>
                </a:solidFill>
                <a:latin typeface="Aptos"/>
              </a:rPr>
              <a:t>From directories of tools to executable trust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One task becomes a safe paid execution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ClawCompass handles the work between intent and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goal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6537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4942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need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1129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9534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REDACT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5721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4126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capability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0313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8718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x402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4905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3310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625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tool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94976" y="2880360"/>
            <a:ext cx="329184" cy="0"/>
          </a:xfrm>
          <a:prstGeom prst="line">
            <a:avLst/>
          </a:prstGeom>
          <a:ln w="2032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79024" y="2487168"/>
            <a:ext cx="126187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52176" y="2615184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52176" y="2907792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outcome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370832"/>
            <a:ext cx="10259568" cy="841248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4645152"/>
            <a:ext cx="9784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Core promise: no paid result before settlement; no high-risk action before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TOOLS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Each platform role maps to a working part of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required ecosystem is used as infrastructure for the agent workflow.</a:t>
            </a:r>
          </a:p>
        </p:txBody>
      </p:sp>
      <p:sp>
        <p:nvSpPr>
          <p:cNvPr id="10" name="Oval 9"/>
          <p:cNvSpPr/>
          <p:nvPr/>
        </p:nvSpPr>
        <p:spPr>
          <a:xfrm>
            <a:off x="5175504" y="2331720"/>
            <a:ext cx="1828800" cy="1828800"/>
          </a:xfrm>
          <a:prstGeom prst="ellipse">
            <a:avLst/>
          </a:prstGeom>
          <a:solidFill>
            <a:srgbClr val="121E31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2971800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6C453"/>
                </a:solidFill>
                <a:latin typeface="Aptos"/>
              </a:rPr>
              <a:t>ClawCompass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463040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591056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ClawUp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1883664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agent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1856232"/>
            <a:ext cx="3438144" cy="1389888"/>
          </a:xfrm>
          <a:prstGeom prst="line">
            <a:avLst/>
          </a:prstGeom>
          <a:ln w="15875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4688" y="932688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060704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Telegram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35331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commands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89904" y="1325880"/>
            <a:ext cx="146303" cy="1920240"/>
          </a:xfrm>
          <a:prstGeom prst="line">
            <a:avLst/>
          </a:prstGeom>
          <a:ln w="15875">
            <a:solidFill>
              <a:srgbClr val="38D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6840" y="1499616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627631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x402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920240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payment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089904" y="1892807"/>
            <a:ext cx="3648456" cy="1353313"/>
          </a:xfrm>
          <a:prstGeom prst="line">
            <a:avLst/>
          </a:prstGeom>
          <a:ln w="15875">
            <a:solidFill>
              <a:srgbClr val="F6C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993392" y="4645152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6544" y="4773168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GOAT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4" y="5065776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mainnet rail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724912" y="3246120"/>
            <a:ext cx="3364992" cy="1792224"/>
          </a:xfrm>
          <a:prstGeom prst="line">
            <a:avLst/>
          </a:prstGeom>
          <a:ln w="15875">
            <a:solidFill>
              <a:srgbClr val="F6C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04688" y="5193792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5321807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ERC-8004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614416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identity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6089904" y="3246120"/>
            <a:ext cx="146303" cy="2340863"/>
          </a:xfrm>
          <a:prstGeom prst="line">
            <a:avLst/>
          </a:prstGeom>
          <a:ln w="15875">
            <a:solidFill>
              <a:srgbClr val="FF6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15400" y="4645152"/>
            <a:ext cx="1481328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8552" y="4773168"/>
            <a:ext cx="1335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SetupPilot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5065776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paid capability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6089904" y="3246120"/>
            <a:ext cx="3557016" cy="1792224"/>
          </a:xfrm>
          <a:prstGeom prst="line">
            <a:avLst/>
          </a:prstGeom>
          <a:ln w="15875">
            <a:solidFill>
              <a:srgbClr val="38D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LIVE DEMO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Five moments show the full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deck supports the live app instead of replacing it.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640080" cy="640080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57860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20617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3246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Self-disclose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6118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BAC6D8"/>
                </a:solidFill>
                <a:latin typeface="Aptos"/>
              </a:rPr>
              <a:t>commands + limits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2706624"/>
            <a:ext cx="1307592" cy="0"/>
          </a:xfrm>
          <a:prstGeom prst="line">
            <a:avLst/>
          </a:prstGeom>
          <a:ln w="2159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090672" y="2395728"/>
            <a:ext cx="640080" cy="640080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57860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20617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46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Route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6118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BAC6D8"/>
                </a:solidFill>
                <a:latin typeface="Aptos"/>
              </a:rPr>
              <a:t>SetupPilot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76472" y="2706624"/>
            <a:ext cx="1307592" cy="0"/>
          </a:xfrm>
          <a:prstGeom prst="line">
            <a:avLst/>
          </a:prstGeom>
          <a:ln w="2159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312664" y="2395728"/>
            <a:ext cx="640080" cy="640080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257860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20617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3246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Pay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36118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BAC6D8"/>
                </a:solidFill>
                <a:latin typeface="Aptos"/>
              </a:rPr>
              <a:t>x402 state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8464" y="2706624"/>
            <a:ext cx="1307592" cy="0"/>
          </a:xfrm>
          <a:prstGeom prst="line">
            <a:avLst/>
          </a:prstGeom>
          <a:ln w="2159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534656" y="2395728"/>
            <a:ext cx="640080" cy="640080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257860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20617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3246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Deliver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36118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BAC6D8"/>
                </a:solidFill>
                <a:latin typeface="Aptos"/>
              </a:rPr>
              <a:t>checklist + log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0456" y="2706624"/>
            <a:ext cx="1307592" cy="0"/>
          </a:xfrm>
          <a:prstGeom prst="line">
            <a:avLst/>
          </a:prstGeom>
          <a:ln w="2159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756648" y="2395728"/>
            <a:ext cx="640080" cy="640080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7816" y="257860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20617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3246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Block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361188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BAC6D8"/>
                </a:solidFill>
                <a:latin typeface="Aptos"/>
              </a:rPr>
              <a:t>approval 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4892040"/>
            <a:ext cx="388620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978907"/>
            <a:ext cx="3703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Stage mode: one clear proof per moment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 FLOW  / 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AGENT SELF-DISCLOSURE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The agent explains itself before taking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This is the UX and trust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084831"/>
            <a:ext cx="4892040" cy="230428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4048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Aptos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8895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What do you do, and how do I use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84831"/>
            <a:ext cx="4800600" cy="230428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24048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996"/>
                </a:solidFill>
                <a:latin typeface="Aptos"/>
              </a:rPr>
              <a:t>Response 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889504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Purpose, commands, inputs, payment limits, and approval boundaries.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4992624"/>
            <a:ext cx="438912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5079492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UX Mastery: clear mental model before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 FLOW  /  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ONBOARDING PROBLEM ROUTED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A real setup blocker becomes a capability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ClawCompass identifies SetupPilot as the right paid capability.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10652760" cy="9144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4825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Aptos"/>
              </a:rPr>
              <a:t>Input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48256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ClawUp setup is stuck: Telegram pairing, ERC-8004, and x402 proof are unfinished.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144475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31335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2394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onboarding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59152" y="4096512"/>
            <a:ext cx="621792" cy="0"/>
          </a:xfrm>
          <a:prstGeom prst="line">
            <a:avLst/>
          </a:prstGeom>
          <a:ln w="228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72384" y="3703320"/>
            <a:ext cx="144475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31335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Redact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2394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safe context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17136" y="4096512"/>
            <a:ext cx="621791" cy="0"/>
          </a:xfrm>
          <a:prstGeom prst="line">
            <a:avLst/>
          </a:prstGeom>
          <a:ln w="228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30368" y="3703320"/>
            <a:ext cx="144475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831335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2394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SetupPilot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5120" y="4096512"/>
            <a:ext cx="621792" cy="0"/>
          </a:xfrm>
          <a:prstGeom prst="line">
            <a:avLst/>
          </a:prstGeom>
          <a:ln w="228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3703320"/>
            <a:ext cx="144475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3831335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412394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next action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4096512"/>
            <a:ext cx="621792" cy="0"/>
          </a:xfrm>
          <a:prstGeom prst="line">
            <a:avLst/>
          </a:prstGeom>
          <a:ln w="22860">
            <a:solidFill>
              <a:srgbClr val="344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46336" y="3703320"/>
            <a:ext cx="1444752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3831335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412394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checklist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 FLOW  /  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X402 PAYMENT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Paid execution is blocked until settlement is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payment state is visible and bound to the capability.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60320"/>
            <a:ext cx="1645920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688336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80944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SetupPilot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70048" y="2953512"/>
            <a:ext cx="1005839" cy="0"/>
          </a:xfrm>
          <a:prstGeom prst="line">
            <a:avLst/>
          </a:prstGeom>
          <a:ln w="2667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76472" y="2560320"/>
            <a:ext cx="1645920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9624" y="2688336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payment_required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2980944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0.10 USDC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40680" y="2953512"/>
            <a:ext cx="1005840" cy="0"/>
          </a:xfrm>
          <a:prstGeom prst="line">
            <a:avLst/>
          </a:prstGeom>
          <a:ln w="26670">
            <a:solidFill>
              <a:srgbClr val="F6C4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47104" y="2560320"/>
            <a:ext cx="1645920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2688336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Settled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980944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proof bound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11312" y="2953512"/>
            <a:ext cx="1005840" cy="0"/>
          </a:xfrm>
          <a:prstGeom prst="line">
            <a:avLst/>
          </a:prstGeom>
          <a:ln w="26670">
            <a:solidFill>
              <a:srgbClr val="38D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17736" y="2560320"/>
            <a:ext cx="1645920" cy="7863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2688336"/>
            <a:ext cx="1499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20" b="1">
                <a:solidFill>
                  <a:srgbClr val="F8FAFC"/>
                </a:solidFill>
                <a:latin typeface="Aptos"/>
              </a:rPr>
              <a:t>Delivered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980944"/>
            <a:ext cx="14996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BAC6D8"/>
                </a:solidFill>
                <a:latin typeface="Aptos"/>
              </a:rPr>
              <a:t>setup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617720"/>
            <a:ext cx="10012680" cy="71323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837176"/>
            <a:ext cx="9464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x402 Integration: intent -&gt; payment_required -&gt; settlement -&gt;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 FLOW  /  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CAPABILITY RESULT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SetupPilot returns a useful setup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result includes the next safe action and proof checklist.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084831"/>
            <a:ext cx="5047488" cy="25146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" y="2084831"/>
            <a:ext cx="68580" cy="251460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SetupPilot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4590288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Diagnoses the setup phase: Telegram pairing, x402 merchant/funding, wallet readiness, ERC-8004 registration, and submission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084831"/>
            <a:ext cx="5047488" cy="251460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2084831"/>
            <a:ext cx="68580" cy="251460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267712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Outcome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706624"/>
            <a:ext cx="4590288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Records the delivered result locally and keeps pending on-chain reputation state separate until approved.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5193792"/>
            <a:ext cx="621792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5280659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Result visible: next safe action + public evidence checklist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DEMO FLOW  /  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HIGH-RISK ACTION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Wallet and on-chain actions require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This is the human-in-the-loop proof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39696"/>
            <a:ext cx="3931920" cy="23317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39696"/>
            <a:ext cx="68580" cy="2331720"/>
          </a:xfrm>
          <a:prstGeom prst="rect">
            <a:avLst/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2257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Risky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761488"/>
            <a:ext cx="3474720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Register on mainnet now using this private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542032"/>
            <a:ext cx="1645920" cy="1645920"/>
          </a:xfrm>
          <a:prstGeom prst="roundRect">
            <a:avLst/>
          </a:prstGeom>
          <a:solidFill>
            <a:srgbClr val="FF6B8A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3136392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20617"/>
                </a:solidFill>
                <a:latin typeface="Aptos Display"/>
              </a:rPr>
              <a:t>HALT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139696"/>
            <a:ext cx="3977639" cy="233172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2139696"/>
            <a:ext cx="68580" cy="233172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2322576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Allowed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2761488"/>
            <a:ext cx="3520439" cy="1618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Requires APPROVE_ONCHAIN, explains the risk, and offers a cancel path before any transaction.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91456" y="3291840"/>
            <a:ext cx="438912" cy="0"/>
          </a:xfrm>
          <a:prstGeom prst="line">
            <a:avLst/>
          </a:prstGeom>
          <a:ln w="34290">
            <a:solidFill>
              <a:srgbClr val="FF6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31152" y="3291840"/>
            <a:ext cx="402336" cy="0"/>
          </a:xfrm>
          <a:prstGeom prst="line">
            <a:avLst/>
          </a:prstGeom>
          <a:ln w="34290">
            <a:solidFill>
              <a:srgbClr val="38D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66160" y="5184648"/>
            <a:ext cx="507492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5271516"/>
            <a:ext cx="4892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Guardrails: redaction + risk classification + explicit approval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MARKET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Capability commerce is the 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ClawCompass starts with SetupPilot and expands into a marketplace of paid agent capabilities.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29968"/>
            <a:ext cx="3429000" cy="260604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29968"/>
            <a:ext cx="68580" cy="260604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Buyer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51760"/>
            <a:ext cx="2971800" cy="1892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Agents and builders submit a goal, budget, context, and max risk. ClawCompass returns only capabilities that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29968"/>
            <a:ext cx="3429000" cy="260604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29968"/>
            <a:ext cx="68580" cy="260604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22128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Seller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651760"/>
            <a:ext cx="2971800" cy="1892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Providers submit capabilities for review. Unsafe tools are not auto-listed; they enter pending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029968"/>
            <a:ext cx="3429000" cy="2606040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2029968"/>
            <a:ext cx="68580" cy="260604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21284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Revenue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51760"/>
            <a:ext cx="2971800" cy="1892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Per-capability execution fee first; provider revenue share, private marketplaces, and reputation APIs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507492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6C453"/>
                </a:solidFill>
                <a:latin typeface="Aptos Display"/>
              </a:rPr>
              <a:t>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5778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BAC6D8"/>
                </a:solidFill>
                <a:latin typeface="Aptos"/>
              </a:rPr>
              <a:t>USDC demo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07492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8D996"/>
                </a:solidFill>
                <a:latin typeface="Aptos Display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57784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BAC6D8"/>
                </a:solidFill>
                <a:latin typeface="Aptos"/>
              </a:rPr>
              <a:t>sides: buyer + seller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MANDATORY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Project proof is tracked explicitly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deck separates live local evidence from external public proof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47088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84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ClawUp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984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agent path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47088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84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Telegram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984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/help /ask /use /security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2990088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127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x402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3127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local state works; real proof 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990088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127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ERC-8004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127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metadata + registration path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133087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270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8004scan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270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chain 2345 listing proof slot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4133087"/>
            <a:ext cx="4956048" cy="65836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270248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No secrets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427024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30" b="0">
                <a:solidFill>
                  <a:srgbClr val="BAC6D8"/>
                </a:solidFill>
                <a:latin typeface="Aptos"/>
              </a:rPr>
              <a:t>public proof 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5504688"/>
            <a:ext cx="640080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591555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Final proof slots become links/screenshots after approved external 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HOW WE COVER THE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Each category maps to a concrete product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The live flow is designed around the judging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01952"/>
            <a:ext cx="4983480" cy="12435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896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6C453"/>
                </a:solidFill>
                <a:latin typeface="Aptos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1305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Market Potential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5603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BAC6D8"/>
                </a:solidFill>
                <a:latin typeface="Aptos"/>
              </a:rPr>
              <a:t>Paid capability runs, seller listings, revenue share, private agent marketplaces.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901952"/>
            <a:ext cx="4983480" cy="12435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03120"/>
            <a:ext cx="896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5EEAD4"/>
                </a:solidFill>
                <a:latin typeface="Aptos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1305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UX Mastery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5603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BAC6D8"/>
                </a:solidFill>
                <a:latin typeface="Aptos"/>
              </a:rPr>
              <a:t>Self-disclosure, simple commands, visible safe context, payment state, next action, proof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685032"/>
            <a:ext cx="4983480" cy="12435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86200"/>
            <a:ext cx="896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38D996"/>
                </a:solidFill>
                <a:latin typeface="Aptos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4248" y="39136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x402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434340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BAC6D8"/>
                </a:solidFill>
                <a:latin typeface="Aptos"/>
              </a:rPr>
              <a:t>Intent -&gt; payment_required -&gt; settlement -&gt; delivery, with no paid output before settlement.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685032"/>
            <a:ext cx="4983480" cy="124358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886200"/>
            <a:ext cx="896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6B8A"/>
                </a:solidFill>
                <a:latin typeface="Aptos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9136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434340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BAC6D8"/>
                </a:solidFill>
                <a:latin typeface="Aptos"/>
              </a:rPr>
              <a:t>Secret redaction, risk classification, approval gates, and cancel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5623560"/>
            <a:ext cx="589788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710428"/>
            <a:ext cx="5715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Scorecard proof is shown in the live flow, not hidden in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PUBLIC PROOF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Local demo is live; public proof is 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Local execution is ready now. Chain/payment proof is captured after approved external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1783080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2144" y="1892807"/>
            <a:ext cx="201168" cy="201168"/>
          </a:xfrm>
          <a:prstGeom prst="ellipse">
            <a:avLst/>
          </a:prstGeom>
          <a:solidFill>
            <a:srgbClr val="38D996"/>
          </a:solidFill>
          <a:ln w="14604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1892807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Local API + web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92807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D996"/>
                </a:solidFill>
                <a:latin typeface="Aptos"/>
              </a:rPr>
              <a:t>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404872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2514600"/>
            <a:ext cx="201168" cy="201168"/>
          </a:xfrm>
          <a:prstGeom prst="ellipse">
            <a:avLst/>
          </a:prstGeom>
          <a:solidFill>
            <a:srgbClr val="38D996"/>
          </a:solidFill>
          <a:ln w="14604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2514600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SetupPilot paid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1460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38D996"/>
                </a:solidFill>
                <a:latin typeface="Aptos"/>
              </a:rPr>
              <a:t>Ready locally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026664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2144" y="3136392"/>
            <a:ext cx="201168" cy="201168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3136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ClawUp agent + Telegram pairing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13639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6C453"/>
                </a:solidFill>
                <a:latin typeface="Aptos"/>
              </a:rPr>
              <a:t>Pending public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3648456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" y="3758184"/>
            <a:ext cx="201168" cy="201168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3758184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Real x402 settlement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5818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6C453"/>
                </a:solidFill>
                <a:latin typeface="Aptos"/>
              </a:rPr>
              <a:t>Pending public proof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4270248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2144" y="4379976"/>
            <a:ext cx="201168" cy="201168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" y="4379976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ERC-8004 transaction + agent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3799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6C453"/>
                </a:solidFill>
                <a:latin typeface="Aptos"/>
              </a:rPr>
              <a:t>Pending public proof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892040"/>
            <a:ext cx="10058400" cy="420624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2144" y="5001768"/>
            <a:ext cx="201168" cy="201168"/>
          </a:xfrm>
          <a:prstGeom prst="ellipse">
            <a:avLst/>
          </a:prstGeom>
          <a:solidFill>
            <a:srgbClr val="F6C453"/>
          </a:solidFill>
          <a:ln w="14604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36192" y="5001768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1">
                <a:solidFill>
                  <a:srgbClr val="F8FAFC"/>
                </a:solidFill>
                <a:latin typeface="Aptos"/>
              </a:rPr>
              <a:t>8004scan URL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00176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6C453"/>
                </a:solidFill>
                <a:latin typeface="Aptos"/>
              </a:rPr>
              <a:t>Pending public proof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18263B"/>
          </a:solidFill>
          <a:ln w="12700">
            <a:solidFill>
              <a:srgbClr val="1826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098280" y="640080"/>
            <a:ext cx="2423160" cy="5440680"/>
          </a:xfrm>
          <a:prstGeom prst="parallelogram">
            <a:avLst/>
          </a:prstGeom>
          <a:solidFill>
            <a:srgbClr val="0E1726"/>
          </a:solidFill>
          <a:ln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B7D95"/>
                </a:solidFill>
                <a:latin typeface="Aptos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8592" y="6382512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0" b="0">
                <a:solidFill>
                  <a:srgbClr val="6B7D95"/>
                </a:solidFill>
                <a:latin typeface="Aptos"/>
              </a:rPr>
              <a:t>ClawCompass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023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453"/>
                </a:solidFill>
                <a:latin typeface="Aptos"/>
              </a:rPr>
              <a:t>WHAT WE 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85800"/>
            <a:ext cx="81838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 Display"/>
              </a:rPr>
              <a:t>Agents can now buy capabilities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417320"/>
            <a:ext cx="7269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0">
                <a:solidFill>
                  <a:srgbClr val="BAC6D8"/>
                </a:solidFill>
                <a:latin typeface="Aptos"/>
              </a:rPr>
              <a:t>ClawCompass connects recommendation, x402 payment, guarded execution, and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20240"/>
            <a:ext cx="3310128" cy="230428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20240"/>
            <a:ext cx="68580" cy="230428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1031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Problem fixed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542032"/>
            <a:ext cx="28529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Agents no longer guess which capability to use or trust. The broker recommends, pays, executes, and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1920240"/>
            <a:ext cx="3310128" cy="230428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3984" y="1920240"/>
            <a:ext cx="68580" cy="230428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1031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GOAT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42032"/>
            <a:ext cx="28529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x402 handles paid execution. ERC-8004 gives identity and reputation. ClawUp/Telegram provides the agent channel.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310128" cy="2304288"/>
          </a:xfrm>
          <a:prstGeom prst="roundRect">
            <a:avLst/>
          </a:prstGeom>
          <a:solidFill>
            <a:srgbClr val="121E31"/>
          </a:solidFill>
          <a:ln w="12700">
            <a:solidFill>
              <a:srgbClr val="344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920240"/>
            <a:ext cx="68580" cy="2304288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1031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80" b="1">
                <a:solidFill>
                  <a:srgbClr val="F8FAFC"/>
                </a:solidFill>
                <a:latin typeface="Aptos"/>
              </a:rPr>
              <a:t>Next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542032"/>
            <a:ext cx="28529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BAC6D8"/>
                </a:solidFill>
                <a:latin typeface="Aptos"/>
              </a:rPr>
              <a:t>Replace proof slots with live ClawUp pairing, real x402 settlement, ERC-8004 registration, and 8004scan URL.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0752" y="5376672"/>
            <a:ext cx="4754880" cy="347472"/>
          </a:xfrm>
          <a:prstGeom prst="roundRect">
            <a:avLst/>
          </a:prstGeom>
          <a:solidFill>
            <a:srgbClr val="18263B"/>
          </a:solidFill>
          <a:ln w="12700"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546354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F8FAFC"/>
                </a:solidFill>
                <a:latin typeface="Aptos"/>
              </a:rPr>
              <a:t>Team: Abhinav Singh | Omkumar | Awais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